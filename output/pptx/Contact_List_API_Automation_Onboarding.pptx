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c7639d97f94bc3" /><Relationship Type="http://schemas.openxmlformats.org/officeDocument/2006/relationships/extended-properties" Target="/docProps/app.xml" Id="R495edc9b331645cc" /><Relationship Type="http://schemas.openxmlformats.org/officeDocument/2006/relationships/officeDocument" Target="/ppt/presentation.xml" Id="R14da339a086f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e9949d7260404d"/>
  </p:sldMasterIdLst>
  <p:notesMasterIdLst>
    <p:notesMasterId xmlns:r="http://schemas.openxmlformats.org/officeDocument/2006/relationships" r:id="R134742bda4a2413a"/>
  </p:notesMasterIdLst>
  <p:sldIdLst>
    <p:sldId xmlns:r="http://schemas.openxmlformats.org/officeDocument/2006/relationships" id="256" r:id="R9ec549c798694ae9"/>
    <p:sldId xmlns:r="http://schemas.openxmlformats.org/officeDocument/2006/relationships" id="257" r:id="Rbba58375568b45d6"/>
    <p:sldId xmlns:r="http://schemas.openxmlformats.org/officeDocument/2006/relationships" id="258" r:id="R28ea3496bde94a86"/>
    <p:sldId xmlns:r="http://schemas.openxmlformats.org/officeDocument/2006/relationships" id="259" r:id="R24ee2504694c4690"/>
    <p:sldId xmlns:r="http://schemas.openxmlformats.org/officeDocument/2006/relationships" id="260" r:id="R8a93e02ef2f74c08"/>
    <p:sldId xmlns:r="http://schemas.openxmlformats.org/officeDocument/2006/relationships" id="261" r:id="R3a1dc649c5444ec0"/>
    <p:sldId xmlns:r="http://schemas.openxmlformats.org/officeDocument/2006/relationships" id="262" r:id="Rf4fb1a45bb2d4d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a8cf735a7414b" /><Relationship Type="http://schemas.openxmlformats.org/officeDocument/2006/relationships/slideMaster" Target="/ppt/slideMasters/slideMaster1.xml" Id="Ra7e9949d7260404d" /><Relationship Type="http://schemas.openxmlformats.org/officeDocument/2006/relationships/notesMaster" Target="/ppt/notesMasters/notesMaster1.xml" Id="R134742bda4a2413a" /><Relationship Type="http://schemas.openxmlformats.org/officeDocument/2006/relationships/presProps" Target="/ppt/presProps.xml" Id="R113cdf53000c46b0" /><Relationship Type="http://schemas.openxmlformats.org/officeDocument/2006/relationships/tableStyles" Target="/ppt/tableStyles.xml" Id="R885416d35691414b" /><Relationship Type="http://schemas.openxmlformats.org/officeDocument/2006/relationships/slide" Target="/ppt/slides/slide1.xml" Id="R9ec549c798694ae9" /><Relationship Type="http://schemas.openxmlformats.org/officeDocument/2006/relationships/slide" Target="/ppt/slides/slide2.xml" Id="Rbba58375568b45d6" /><Relationship Type="http://schemas.openxmlformats.org/officeDocument/2006/relationships/slide" Target="/ppt/slides/slide3.xml" Id="R28ea3496bde94a86" /><Relationship Type="http://schemas.openxmlformats.org/officeDocument/2006/relationships/slide" Target="/ppt/slides/slide4.xml" Id="R24ee2504694c4690" /><Relationship Type="http://schemas.openxmlformats.org/officeDocument/2006/relationships/slide" Target="/ppt/slides/slide5.xml" Id="R8a93e02ef2f74c08" /><Relationship Type="http://schemas.openxmlformats.org/officeDocument/2006/relationships/slide" Target="/ppt/slides/slide6.xml" Id="R3a1dc649c5444ec0" /><Relationship Type="http://schemas.openxmlformats.org/officeDocument/2006/relationships/slide" Target="/ppt/slides/slide7.xml" Id="Rf4fb1a45bb2d4d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67ac94d4e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b0f0879884d29" /><Relationship Type="http://schemas.openxmlformats.org/officeDocument/2006/relationships/notesMaster" Target="/ppt/notesMasters/notesMaster1.xml" Id="Rc2613378004a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00116bb6e241c0" /><Relationship Type="http://schemas.openxmlformats.org/officeDocument/2006/relationships/notesMaster" Target="/ppt/notesMasters/notesMaster1.xml" Id="R49faa9a4467242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4a968838f24521" /><Relationship Type="http://schemas.openxmlformats.org/officeDocument/2006/relationships/notesMaster" Target="/ppt/notesMasters/notesMaster1.xml" Id="Re719c659e250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7cfdef5d5b48d1" /><Relationship Type="http://schemas.openxmlformats.org/officeDocument/2006/relationships/notesMaster" Target="/ppt/notesMasters/notesMaster1.xml" Id="R9479b6d0fe534b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cdddb5bf4b46b6" /><Relationship Type="http://schemas.openxmlformats.org/officeDocument/2006/relationships/notesMaster" Target="/ppt/notesMasters/notesMaster1.xml" Id="Rfa204d66010d48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66bfa32af3453b" /><Relationship Type="http://schemas.openxmlformats.org/officeDocument/2006/relationships/notesMaster" Target="/ppt/notesMasters/notesMaster1.xml" Id="R083382c70d0340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c2475aa074cfe" /><Relationship Type="http://schemas.openxmlformats.org/officeDocument/2006/relationships/notesMaster" Target="/ppt/notesMasters/notesMaster1.xml" Id="R8e667289fb17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e356a5cc346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a0306472d14f4a" /><Relationship Type="http://schemas.openxmlformats.org/officeDocument/2006/relationships/slideLayout" Target="/ppt/slideLayouts/slideLayout1.xml" Id="Rabb962f3eada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b962f3eada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9a732090e4e59" /><Relationship Type="http://schemas.openxmlformats.org/officeDocument/2006/relationships/notesSlide" Target="/ppt/notesSlides/notesSlide1.xml" Id="Re10613de461744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81d6f48494862" /><Relationship Type="http://schemas.openxmlformats.org/officeDocument/2006/relationships/notesSlide" Target="/ppt/notesSlides/notesSlide2.xml" Id="Re0243fa08869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5b73063e7424f" /><Relationship Type="http://schemas.openxmlformats.org/officeDocument/2006/relationships/notesSlide" Target="/ppt/notesSlides/notesSlide3.xml" Id="R41b2db4377054d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f213f2cf041e9" /><Relationship Type="http://schemas.openxmlformats.org/officeDocument/2006/relationships/notesSlide" Target="/ppt/notesSlides/notesSlide4.xml" Id="R6554935e3f834d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acc61191f4db2" /><Relationship Type="http://schemas.openxmlformats.org/officeDocument/2006/relationships/notesSlide" Target="/ppt/notesSlides/notesSlide5.xml" Id="Rc82bb042b86340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63b11b98a4807" /><Relationship Type="http://schemas.openxmlformats.org/officeDocument/2006/relationships/notesSlide" Target="/ppt/notesSlides/notesSlide6.xml" Id="R3a29f8af011d49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37d914b334060" /><Relationship Type="http://schemas.openxmlformats.org/officeDocument/2006/relationships/notesSlide" Target="/ppt/notesSlides/notesSlide7.xml" Id="R149a57d9b52548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3751F33-CA0C-42D6-82C2-E04AF9E1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PLAYWRIGHT API AUTOMATION  •  TEAM ONBOARDING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648F34-4BD9-4B70-80EE-DE850FF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 List API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automation architecture</a:t>
            </a:r>
          </a:p>
        </p:txBody>
      </p:sp>
      <p:cxnSp>
        <p:nvCxnSpPr>
          <p:cNvPr id="8" name="cover-rule"/>
          <p:cNvCxnSpPr/>
          <p:nvPr/>
        </p:nvCxnSpPr>
        <p:spPr>
          <a:xfrm xmlns:a="http://schemas.openxmlformats.org/drawingml/2006/main">
            <a:off x="400050" y="49530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8A8806-7F36-4818-B498-450724C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A practical guide to the CRUD test design, execution flow, coverage, and extension points.</a:t>
            </a:r>
          </a:p>
        </p:txBody>
      </p:sp>
      <p:sp>
        <p:nvSpPr>
          <p:cNvPr id="5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F9431EDA-9DA9-451E-8A26-69786F4D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6006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648C589-27AA-40AF-A6E0-3B17022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flow keeps tests readable, secure, and maintainable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3504649-DD71-4C56-B4BA-9F65F7D9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F7E0315-1281-4580-9EC1-DF48699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Each layer has one job; credentials enter only at runtime.</a:t>
            </a:r>
          </a:p>
        </p:txBody>
      </p:sp>
      <p:cxnSp>
        <p:nvCxnSpPr>
          <p:cNvPr id="30" name="arch-line-1"/>
          <p:cNvCxnSpPr/>
          <p:nvPr/>
        </p:nvCxnSpPr>
        <p:spPr>
          <a:xfrm xmlns:a="http://schemas.openxmlformats.org/drawingml/2006/main">
            <a:off x="2286000" y="261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1" name="arch-line-2"/>
          <p:cNvCxnSpPr/>
          <p:nvPr/>
        </p:nvCxnSpPr>
        <p:spPr>
          <a:xfrm xmlns:a="http://schemas.openxmlformats.org/drawingml/2006/main">
            <a:off x="4876800" y="261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2" name="arch-line-3"/>
          <p:cNvCxnSpPr/>
          <p:nvPr/>
        </p:nvCxnSpPr>
        <p:spPr>
          <a:xfrm xmlns:a="http://schemas.openxmlformats.org/drawingml/2006/main">
            <a:off x="7467600" y="261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arch-line-down"/>
          <p:cNvCxnSpPr/>
          <p:nvPr/>
        </p:nvCxnSpPr>
        <p:spPr>
          <a:xfrm xmlns:a="http://schemas.openxmlformats.org/drawingml/2006/main">
            <a:off x="9982200" y="33813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8" name="arch-Playwright spec">
            <a:extLst xmlns:a="http://schemas.openxmlformats.org/drawingml/2006/main">
              <a:ext uri="{FF2B5EF4-FFF2-40B4-BE49-F238E27FC236}">
                <a16:creationId xmlns:a16="http://schemas.microsoft.com/office/drawing/2014/main" id="{F1E01C48-7E7C-4F5F-BE4A-029B7CA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8288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ch-head-Playwright spec">
            <a:extLst xmlns:a="http://schemas.openxmlformats.org/drawingml/2006/main">
              <a:ext uri="{FF2B5EF4-FFF2-40B4-BE49-F238E27FC236}">
                <a16:creationId xmlns:a16="http://schemas.microsoft.com/office/drawing/2014/main" id="{E4E09122-7F80-4279-9344-912EF1D0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Playwright spec</a:t>
            </a:r>
          </a:p>
        </p:txBody>
      </p:sp>
      <p:sp>
        <p:nvSpPr>
          <p:cNvPr id="10" name="arch-body-Playwright spec">
            <a:extLst xmlns:a="http://schemas.openxmlformats.org/drawingml/2006/main">
              <a:ext uri="{FF2B5EF4-FFF2-40B4-BE49-F238E27FC236}">
                <a16:creationId xmlns:a16="http://schemas.microsoft.com/office/drawing/2014/main" id="{B82CC4F6-ECF3-4949-BC8B-FE204B9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Scenario intent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Assertions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Tags</a:t>
            </a:r>
          </a:p>
        </p:txBody>
      </p:sp>
      <p:sp>
        <p:nvSpPr>
          <p:cNvPr id="11" name="arch-API client">
            <a:extLst xmlns:a="http://schemas.openxmlformats.org/drawingml/2006/main">
              <a:ext uri="{FF2B5EF4-FFF2-40B4-BE49-F238E27FC236}">
                <a16:creationId xmlns:a16="http://schemas.microsoft.com/office/drawing/2014/main" id="{CA99CA32-63B7-43BA-ADFB-852E6E5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0"/>
            <a:ext cx="18288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head-API client">
            <a:extLst xmlns:a="http://schemas.openxmlformats.org/drawingml/2006/main">
              <a:ext uri="{FF2B5EF4-FFF2-40B4-BE49-F238E27FC236}">
                <a16:creationId xmlns:a16="http://schemas.microsoft.com/office/drawing/2014/main" id="{1A5DFC25-5105-461D-8268-A56090DD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API client</a:t>
            </a:r>
          </a:p>
        </p:txBody>
      </p:sp>
      <p:sp>
        <p:nvSpPr>
          <p:cNvPr id="13" name="arch-body-API client">
            <a:extLst xmlns:a="http://schemas.openxmlformats.org/drawingml/2006/main">
              <a:ext uri="{FF2B5EF4-FFF2-40B4-BE49-F238E27FC236}">
                <a16:creationId xmlns:a16="http://schemas.microsoft.com/office/drawing/2014/main" id="{ED383803-0C59-48E7-B3BE-BDCA272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4317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HTTP methods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Bearer token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Base URL</a:t>
            </a:r>
          </a:p>
        </p:txBody>
      </p:sp>
      <p:sp>
        <p:nvSpPr>
          <p:cNvPr id="14" name="arch-Test data">
            <a:extLst xmlns:a="http://schemas.openxmlformats.org/drawingml/2006/main">
              <a:ext uri="{FF2B5EF4-FFF2-40B4-BE49-F238E27FC236}">
                <a16:creationId xmlns:a16="http://schemas.microsoft.com/office/drawing/2014/main" id="{D791913C-C913-4B26-B6D2-444F812D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18288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-head-Test data">
            <a:extLst xmlns:a="http://schemas.openxmlformats.org/drawingml/2006/main">
              <a:ext uri="{FF2B5EF4-FFF2-40B4-BE49-F238E27FC236}">
                <a16:creationId xmlns:a16="http://schemas.microsoft.com/office/drawing/2014/main" id="{A2B078D0-C3CA-4076-842A-0D60739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data</a:t>
            </a:r>
          </a:p>
        </p:txBody>
      </p:sp>
      <p:sp>
        <p:nvSpPr>
          <p:cNvPr id="16" name="arch-body-Test data">
            <a:extLst xmlns:a="http://schemas.openxmlformats.org/drawingml/2006/main">
              <a:ext uri="{FF2B5EF4-FFF2-40B4-BE49-F238E27FC236}">
                <a16:creationId xmlns:a16="http://schemas.microsoft.com/office/drawing/2014/main" id="{541FFC21-0DFA-41CD-87C8-0657A5E5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4317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Valid payloads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Updated payload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Invalid ID</a:t>
            </a:r>
          </a:p>
        </p:txBody>
      </p:sp>
      <p:sp>
        <p:nvSpPr>
          <p:cNvPr id="17" name="arch-Contact List API">
            <a:extLst xmlns:a="http://schemas.openxmlformats.org/drawingml/2006/main">
              <a:ext uri="{FF2B5EF4-FFF2-40B4-BE49-F238E27FC236}">
                <a16:creationId xmlns:a16="http://schemas.microsoft.com/office/drawing/2014/main" id="{2590F2A6-ED8B-4431-A6AE-A98A9B8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18288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rch-head-Contact List API">
            <a:extLst xmlns:a="http://schemas.openxmlformats.org/drawingml/2006/main">
              <a:ext uri="{FF2B5EF4-FFF2-40B4-BE49-F238E27FC236}">
                <a16:creationId xmlns:a16="http://schemas.microsoft.com/office/drawing/2014/main" id="{8BF1473D-3DE3-4465-BBCE-30EE5BF2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05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 List API</a:t>
            </a:r>
          </a:p>
        </p:txBody>
      </p:sp>
      <p:sp>
        <p:nvSpPr>
          <p:cNvPr id="19" name="arch-body-Contact List API">
            <a:extLst xmlns:a="http://schemas.openxmlformats.org/drawingml/2006/main">
              <a:ext uri="{FF2B5EF4-FFF2-40B4-BE49-F238E27FC236}">
                <a16:creationId xmlns:a16="http://schemas.microsoft.com/office/drawing/2014/main" id="{DE29F6C9-CC28-4CEF-BBFE-2027025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Login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/contacts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HTTP responses</a:t>
            </a:r>
          </a:p>
        </p:txBody>
      </p:sp>
      <p:sp>
        <p:nvSpPr>
          <p:cNvPr id="20" name="runtime-secrets">
            <a:extLst xmlns:a="http://schemas.openxmlformats.org/drawingml/2006/main">
              <a:ext uri="{FF2B5EF4-FFF2-40B4-BE49-F238E27FC236}">
                <a16:creationId xmlns:a16="http://schemas.microsoft.com/office/drawing/2014/main" id="{332E77FE-1399-4B5C-8578-AA850BC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label-bg-RUNTIME ONLY">
            <a:extLst xmlns:a="http://schemas.openxmlformats.org/drawingml/2006/main">
              <a:ext uri="{FF2B5EF4-FFF2-40B4-BE49-F238E27FC236}">
                <a16:creationId xmlns:a16="http://schemas.microsoft.com/office/drawing/2014/main" id="{9054B1DD-0744-443C-B67A-0B0722A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1219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label-RUNTIME ONLY">
            <a:extLst xmlns:a="http://schemas.openxmlformats.org/drawingml/2006/main">
              <a:ext uri="{FF2B5EF4-FFF2-40B4-BE49-F238E27FC236}">
                <a16:creationId xmlns:a16="http://schemas.microsoft.com/office/drawing/2014/main" id="{97B5602C-5668-44F5-86F8-270593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910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ONLY</a:t>
            </a:r>
          </a:p>
        </p:txBody>
      </p:sp>
      <p:sp>
        <p:nvSpPr>
          <p:cNvPr id="23" name="runtime-copy">
            <a:extLst xmlns:a="http://schemas.openxmlformats.org/drawingml/2006/main">
              <a:ext uri="{FF2B5EF4-FFF2-40B4-BE49-F238E27FC236}">
                <a16:creationId xmlns:a16="http://schemas.microsoft.com/office/drawing/2014/main" id="{45F49538-56C3-4278-A26B-4B16E11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CONTACT_LIST_EMAIL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CONTACT_LIST_PASSWORD</a:t>
            </a:r>
          </a:p>
        </p:txBody>
      </p:sp>
      <p:sp>
        <p:nvSpPr>
          <p:cNvPr id="24" name="cleanup-banner">
            <a:extLst xmlns:a="http://schemas.openxmlformats.org/drawingml/2006/main">
              <a:ext uri="{FF2B5EF4-FFF2-40B4-BE49-F238E27FC236}">
                <a16:creationId xmlns:a16="http://schemas.microsoft.com/office/drawing/2014/main" id="{5BEC2679-A546-4A39-9FB4-BBFA1EA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66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cleanup-title">
            <a:extLst xmlns:a="http://schemas.openxmlformats.org/drawingml/2006/main">
              <a:ext uri="{FF2B5EF4-FFF2-40B4-BE49-F238E27FC236}">
                <a16:creationId xmlns:a16="http://schemas.microsoft.com/office/drawing/2014/main" id="{BAAA88FC-2C97-45C9-8921-4F906738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 rail: every created contact is deleted in finally</a:t>
            </a:r>
          </a:p>
        </p:txBody>
      </p:sp>
      <p:sp>
        <p:nvSpPr>
          <p:cNvPr id="26" name="cleanup-body">
            <a:extLst xmlns:a="http://schemas.openxmlformats.org/drawingml/2006/main">
              <a:ext uri="{FF2B5EF4-FFF2-40B4-BE49-F238E27FC236}">
                <a16:creationId xmlns:a16="http://schemas.microsoft.com/office/drawing/2014/main" id="{0C5C028D-A2B6-4254-B85D-5BECB9C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Failures do not leave test records behind; the delete test verifies a 404 after removal.</a:t>
            </a:r>
          </a:p>
        </p:txBody>
      </p:sp>
    </p:spTree>
    <p:extLst>
      <p:ext uri="{BB962C8B-B14F-4D97-AF65-F5344CB8AC3E}">
        <p14:creationId xmlns:p14="http://schemas.microsoft.com/office/powerpoint/2010/main" val="1517345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6975E3B-5B82-4EA3-B6D0-645C510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files separate transport, scenarios, and data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0411C80D-CE0E-43CC-A1E6-5FC767A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label-bg-src/api/">
            <a:extLst xmlns:a="http://schemas.openxmlformats.org/drawingml/2006/main">
              <a:ext uri="{FF2B5EF4-FFF2-40B4-BE49-F238E27FC236}">
                <a16:creationId xmlns:a16="http://schemas.microsoft.com/office/drawing/2014/main" id="{F62BDD7C-4DE1-44AA-B344-BF15D25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428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label-src/api/">
            <a:extLst xmlns:a="http://schemas.openxmlformats.org/drawingml/2006/main">
              <a:ext uri="{FF2B5EF4-FFF2-40B4-BE49-F238E27FC236}">
                <a16:creationId xmlns:a16="http://schemas.microsoft.com/office/drawing/2014/main" id="{F85AA38C-AC47-43B7-AA7E-A1CA4A3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src/api/</a:t>
            </a:r>
          </a:p>
        </p:txBody>
      </p:sp>
      <p:sp>
        <p:nvSpPr>
          <p:cNvPr id="5" name="file-ContactListClient.ts">
            <a:extLst xmlns:a="http://schemas.openxmlformats.org/drawingml/2006/main">
              <a:ext uri="{FF2B5EF4-FFF2-40B4-BE49-F238E27FC236}">
                <a16:creationId xmlns:a16="http://schemas.microsoft.com/office/drawing/2014/main" id="{99CB57A3-3A19-4EBE-BD00-BBBBC157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ContactListClient.ts</a:t>
            </a:r>
          </a:p>
        </p:txBody>
      </p:sp>
      <p:cxnSp>
        <p:nvCxnSpPr>
          <p:cNvPr id="25" name="rule-ContactListClient.ts"/>
          <p:cNvCxnSpPr/>
          <p:nvPr/>
        </p:nvCxnSpPr>
        <p:spPr>
          <a:xfrm xmlns:a="http://schemas.openxmlformats.org/drawingml/2006/main">
            <a:off x="400050" y="3095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body-ContactListClient.ts">
            <a:extLst xmlns:a="http://schemas.openxmlformats.org/drawingml/2006/main">
              <a:ext uri="{FF2B5EF4-FFF2-40B4-BE49-F238E27FC236}">
                <a16:creationId xmlns:a16="http://schemas.microsoft.com/office/drawing/2014/main" id="{05EED3F1-4434-4088-8F1A-52408852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Owns login and all HTTP calls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Adds bearer authorization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Reads configurable base URL</a:t>
            </a:r>
          </a:p>
        </p:txBody>
      </p:sp>
      <p:sp>
        <p:nvSpPr>
          <p:cNvPr id="8" name="label-bg-tests/api/">
            <a:extLst xmlns:a="http://schemas.openxmlformats.org/drawingml/2006/main">
              <a:ext uri="{FF2B5EF4-FFF2-40B4-BE49-F238E27FC236}">
                <a16:creationId xmlns:a16="http://schemas.microsoft.com/office/drawing/2014/main" id="{BB093FA6-1825-4464-BCB0-C004A05E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1428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label-tests/api/">
            <a:extLst xmlns:a="http://schemas.openxmlformats.org/drawingml/2006/main">
              <a:ext uri="{FF2B5EF4-FFF2-40B4-BE49-F238E27FC236}">
                <a16:creationId xmlns:a16="http://schemas.microsoft.com/office/drawing/2014/main" id="{041D008C-F617-449B-91EE-92B3B24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192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tests/api/</a:t>
            </a:r>
          </a:p>
        </p:txBody>
      </p:sp>
      <p:sp>
        <p:nvSpPr>
          <p:cNvPr id="10" name="file-contact-list.spec.ts">
            <a:extLst xmlns:a="http://schemas.openxmlformats.org/drawingml/2006/main">
              <a:ext uri="{FF2B5EF4-FFF2-40B4-BE49-F238E27FC236}">
                <a16:creationId xmlns:a16="http://schemas.microsoft.com/office/drawing/2014/main" id="{B017B0EC-3D2E-4857-BBE7-4FDE7C28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contact-list.spec.ts</a:t>
            </a:r>
          </a:p>
        </p:txBody>
      </p:sp>
      <p:cxnSp>
        <p:nvCxnSpPr>
          <p:cNvPr id="30" name="rule-contact-list.spec.ts"/>
          <p:cNvCxnSpPr/>
          <p:nvPr/>
        </p:nvCxnSpPr>
        <p:spPr>
          <a:xfrm xmlns:a="http://schemas.openxmlformats.org/drawingml/2006/main">
            <a:off x="4305300" y="3095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body-contact-list.spec.ts">
            <a:extLst xmlns:a="http://schemas.openxmlformats.org/drawingml/2006/main">
              <a:ext uri="{FF2B5EF4-FFF2-40B4-BE49-F238E27FC236}">
                <a16:creationId xmlns:a16="http://schemas.microsoft.com/office/drawing/2014/main" id="{8B0F7012-64B7-40D4-8ACE-E10C238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Defines ten focused scenarios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Contains web/API assertions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Cleans up created contacts</a:t>
            </a:r>
          </a:p>
        </p:txBody>
      </p:sp>
      <p:sp>
        <p:nvSpPr>
          <p:cNvPr id="13" name="label-bg-tests/data/">
            <a:extLst xmlns:a="http://schemas.openxmlformats.org/drawingml/2006/main">
              <a:ext uri="{FF2B5EF4-FFF2-40B4-BE49-F238E27FC236}">
                <a16:creationId xmlns:a16="http://schemas.microsoft.com/office/drawing/2014/main" id="{1BAD30FD-AFF3-4928-82EE-3B6F15D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428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label-tests/data/">
            <a:extLst xmlns:a="http://schemas.openxmlformats.org/drawingml/2006/main">
              <a:ext uri="{FF2B5EF4-FFF2-40B4-BE49-F238E27FC236}">
                <a16:creationId xmlns:a16="http://schemas.microsoft.com/office/drawing/2014/main" id="{8684F869-0F28-453A-A2EA-ED422E3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tests/data/</a:t>
            </a:r>
          </a:p>
        </p:txBody>
      </p:sp>
      <p:sp>
        <p:nvSpPr>
          <p:cNvPr id="15" name="file-contact-list.json">
            <a:extLst xmlns:a="http://schemas.openxmlformats.org/drawingml/2006/main">
              <a:ext uri="{FF2B5EF4-FFF2-40B4-BE49-F238E27FC236}">
                <a16:creationId xmlns:a16="http://schemas.microsoft.com/office/drawing/2014/main" id="{4CEBF961-65AA-4B8E-B38C-33733C9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contact-list.json</a:t>
            </a:r>
          </a:p>
        </p:txBody>
      </p:sp>
      <p:cxnSp>
        <p:nvCxnSpPr>
          <p:cNvPr id="35" name="rule-contact-list.json"/>
          <p:cNvCxnSpPr/>
          <p:nvPr/>
        </p:nvCxnSpPr>
        <p:spPr>
          <a:xfrm xmlns:a="http://schemas.openxmlformats.org/drawingml/2006/main">
            <a:off x="8210550" y="3095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body-contact-list.json">
            <a:extLst xmlns:a="http://schemas.openxmlformats.org/drawingml/2006/main">
              <a:ext uri="{FF2B5EF4-FFF2-40B4-BE49-F238E27FC236}">
                <a16:creationId xmlns:a16="http://schemas.microsoft.com/office/drawing/2014/main" id="{A1E66D0A-96F2-4DB7-B541-7867A099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Stores valid and updated payloads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Provides a stable invalid ID</a:t>
            </a:r>
          </a:p>
          <a:p xmlns:a="http://schemas.openxmlformats.org/drawingml/2006/main">
            <a:pPr algn="l">
              <a:defRPr sz="142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Contains no credentials</a:t>
            </a:r>
          </a:p>
        </p:txBody>
      </p:sp>
      <p:sp>
        <p:nvSpPr>
          <p:cNvPr id="18" name="repo-rule">
            <a:extLst xmlns:a="http://schemas.openxmlformats.org/drawingml/2006/main">
              <a:ext uri="{FF2B5EF4-FFF2-40B4-BE49-F238E27FC236}">
                <a16:creationId xmlns:a16="http://schemas.microsoft.com/office/drawing/2014/main" id="{DF5C2380-72CA-4318-B9D6-00D7F34D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 rule</a:t>
            </a:r>
          </a:p>
        </p:txBody>
      </p:sp>
      <p:sp>
        <p:nvSpPr>
          <p:cNvPr id="19" name="repo-rule-copy">
            <a:extLst xmlns:a="http://schemas.openxmlformats.org/drawingml/2006/main">
              <a:ext uri="{FF2B5EF4-FFF2-40B4-BE49-F238E27FC236}">
                <a16:creationId xmlns:a16="http://schemas.microsoft.com/office/drawing/2014/main" id="{C9A1313F-CBD1-4AC7-8585-EFA14C0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Tests describe behavior. The client owns API mechanics. JSON owns reusable data.</a:t>
            </a:r>
          </a:p>
        </p:txBody>
      </p:sp>
    </p:spTree>
    <p:extLst>
      <p:ext uri="{BB962C8B-B14F-4D97-AF65-F5344CB8AC3E}">
        <p14:creationId xmlns:p14="http://schemas.microsoft.com/office/powerpoint/2010/main" val="1598701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8DAA2B5-EEFF-4E25-BF59-A84F027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CRUD lifecycle is explicit—and always cleans up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44A25D4-F683-444E-A1CA-67F471EA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9" name="timeline"/>
          <p:cNvCxnSpPr/>
          <p:nvPr/>
        </p:nvCxnSpPr>
        <p:spPr>
          <a:xfrm xmlns:a="http://schemas.openxmlformats.org/drawingml/2006/main">
            <a:off x="742950" y="314325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dot-01">
            <a:extLst xmlns:a="http://schemas.openxmlformats.org/drawingml/2006/main">
              <a:ext uri="{FF2B5EF4-FFF2-40B4-BE49-F238E27FC236}">
                <a16:creationId xmlns:a16="http://schemas.microsoft.com/office/drawing/2014/main" id="{AF294740-D276-4A3D-A17E-2A8260E5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3619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num-01">
            <a:extLst xmlns:a="http://schemas.openxmlformats.org/drawingml/2006/main">
              <a:ext uri="{FF2B5EF4-FFF2-40B4-BE49-F238E27FC236}">
                <a16:creationId xmlns:a16="http://schemas.microsoft.com/office/drawing/2014/main" id="{CFE46D0C-1990-4BCD-9EF9-D853266A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01">
            <a:extLst xmlns:a="http://schemas.openxmlformats.org/drawingml/2006/main">
              <a:ext uri="{FF2B5EF4-FFF2-40B4-BE49-F238E27FC236}">
                <a16:creationId xmlns:a16="http://schemas.microsoft.com/office/drawing/2014/main" id="{8037A65D-32E8-4E68-B968-80E93D9E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E74CAAC3-96C8-4BC0-800B-6D1D2FE4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666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POST /users/login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Capture bearer token</a:t>
            </a:r>
          </a:p>
        </p:txBody>
      </p:sp>
      <p:sp>
        <p:nvSpPr>
          <p:cNvPr id="8" name="dot-02">
            <a:extLst xmlns:a="http://schemas.openxmlformats.org/drawingml/2006/main">
              <a:ext uri="{FF2B5EF4-FFF2-40B4-BE49-F238E27FC236}">
                <a16:creationId xmlns:a16="http://schemas.microsoft.com/office/drawing/2014/main" id="{29B414AE-7CBB-4006-BD3A-E7848A7E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62275"/>
            <a:ext cx="3619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num-02">
            <a:extLst xmlns:a="http://schemas.openxmlformats.org/drawingml/2006/main">
              <a:ext uri="{FF2B5EF4-FFF2-40B4-BE49-F238E27FC236}">
                <a16:creationId xmlns:a16="http://schemas.microsoft.com/office/drawing/2014/main" id="{545493E5-C8A5-47EA-BC73-66213CCF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28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ep-02">
            <a:extLst xmlns:a="http://schemas.openxmlformats.org/drawingml/2006/main">
              <a:ext uri="{FF2B5EF4-FFF2-40B4-BE49-F238E27FC236}">
                <a16:creationId xmlns:a16="http://schemas.microsoft.com/office/drawing/2014/main" id="{EAAF9B40-60B0-4101-A514-C4417244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1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7C920A36-240C-4E67-AFDB-BCBD67A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0450"/>
            <a:ext cx="1666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POST /contacts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Expect 201 + ID</a:t>
            </a:r>
          </a:p>
        </p:txBody>
      </p:sp>
      <p:sp>
        <p:nvSpPr>
          <p:cNvPr id="12" name="dot-03">
            <a:extLst xmlns:a="http://schemas.openxmlformats.org/drawingml/2006/main">
              <a:ext uri="{FF2B5EF4-FFF2-40B4-BE49-F238E27FC236}">
                <a16:creationId xmlns:a16="http://schemas.microsoft.com/office/drawing/2014/main" id="{56B6860A-D68C-46D0-A729-ABB1506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62275"/>
            <a:ext cx="3619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num-03">
            <a:extLst xmlns:a="http://schemas.openxmlformats.org/drawingml/2006/main">
              <a:ext uri="{FF2B5EF4-FFF2-40B4-BE49-F238E27FC236}">
                <a16:creationId xmlns:a16="http://schemas.microsoft.com/office/drawing/2014/main" id="{671299B1-39BD-4737-95B3-63CC242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28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tep-03">
            <a:extLst xmlns:a="http://schemas.openxmlformats.org/drawingml/2006/main">
              <a:ext uri="{FF2B5EF4-FFF2-40B4-BE49-F238E27FC236}">
                <a16:creationId xmlns:a16="http://schemas.microsoft.com/office/drawing/2014/main" id="{C218A734-A9EC-46D1-9367-76F239F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0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735FFF27-7482-43EB-B53F-16CEE0B5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1666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GET list or ID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Expect 200 + contract</a:t>
            </a:r>
          </a:p>
        </p:txBody>
      </p:sp>
      <p:sp>
        <p:nvSpPr>
          <p:cNvPr id="16" name="dot-04">
            <a:extLst xmlns:a="http://schemas.openxmlformats.org/drawingml/2006/main">
              <a:ext uri="{FF2B5EF4-FFF2-40B4-BE49-F238E27FC236}">
                <a16:creationId xmlns:a16="http://schemas.microsoft.com/office/drawing/2014/main" id="{EE94E133-F5F8-475C-AE86-98C289F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62275"/>
            <a:ext cx="3619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num-04">
            <a:extLst xmlns:a="http://schemas.openxmlformats.org/drawingml/2006/main">
              <a:ext uri="{FF2B5EF4-FFF2-40B4-BE49-F238E27FC236}">
                <a16:creationId xmlns:a16="http://schemas.microsoft.com/office/drawing/2014/main" id="{A98B9487-0D1D-4B55-9FB7-839AAAD0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step-04">
            <a:extLst xmlns:a="http://schemas.openxmlformats.org/drawingml/2006/main">
              <a:ext uri="{FF2B5EF4-FFF2-40B4-BE49-F238E27FC236}">
                <a16:creationId xmlns:a16="http://schemas.microsoft.com/office/drawing/2014/main" id="{B979556F-8529-4A9A-AFAC-29708509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0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9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13241221-4DA2-44E5-99B5-044AE95C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1666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PUT /contacts/:id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Expect changed fields</a:t>
            </a:r>
          </a:p>
        </p:txBody>
      </p:sp>
      <p:sp>
        <p:nvSpPr>
          <p:cNvPr id="20" name="dot-05">
            <a:extLst xmlns:a="http://schemas.openxmlformats.org/drawingml/2006/main">
              <a:ext uri="{FF2B5EF4-FFF2-40B4-BE49-F238E27FC236}">
                <a16:creationId xmlns:a16="http://schemas.microsoft.com/office/drawing/2014/main" id="{A3E3D2CE-A362-47B8-AEDF-122F68E0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62275"/>
            <a:ext cx="3619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num-05">
            <a:extLst xmlns:a="http://schemas.openxmlformats.org/drawingml/2006/main">
              <a:ext uri="{FF2B5EF4-FFF2-40B4-BE49-F238E27FC236}">
                <a16:creationId xmlns:a16="http://schemas.microsoft.com/office/drawing/2014/main" id="{2F09656F-352A-4989-9014-3CA8047B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8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step-05">
            <a:extLst xmlns:a="http://schemas.openxmlformats.org/drawingml/2006/main">
              <a:ext uri="{FF2B5EF4-FFF2-40B4-BE49-F238E27FC236}">
                <a16:creationId xmlns:a16="http://schemas.microsoft.com/office/drawing/2014/main" id="{75F1E72D-4987-4A74-BAC0-6F8D1351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3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6C2DC150-E54F-437E-BFE6-E856452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1666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DELETE /contacts/:id</a:t>
            </a:r>
          </a:p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Confirm subsequent 404</a:t>
            </a:r>
          </a:p>
        </p:txBody>
      </p:sp>
      <p:sp>
        <p:nvSpPr>
          <p:cNvPr id="24" name="finally-strip">
            <a:extLst xmlns:a="http://schemas.openxmlformats.org/drawingml/2006/main">
              <a:ext uri="{FF2B5EF4-FFF2-40B4-BE49-F238E27FC236}">
                <a16:creationId xmlns:a16="http://schemas.microsoft.com/office/drawing/2014/main" id="{19720A95-5DEB-4920-A279-FB6C5CC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439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25" name="finally-copy">
            <a:extLst xmlns:a="http://schemas.openxmlformats.org/drawingml/2006/main">
              <a:ext uri="{FF2B5EF4-FFF2-40B4-BE49-F238E27FC236}">
                <a16:creationId xmlns:a16="http://schemas.microsoft.com/office/drawing/2014/main" id="{264AE624-F19A-464B-B085-0AC90446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finally { deleteContact(contactId) }</a:t>
            </a:r>
          </a:p>
        </p:txBody>
      </p:sp>
      <p:sp>
        <p:nvSpPr>
          <p:cNvPr id="26" name="finally-meaning">
            <a:extLst xmlns:a="http://schemas.openxmlformats.org/drawingml/2006/main">
              <a:ext uri="{FF2B5EF4-FFF2-40B4-BE49-F238E27FC236}">
                <a16:creationId xmlns:a16="http://schemas.microsoft.com/office/drawing/2014/main" id="{48F448D6-3D4A-4BB5-9FA8-2D86621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38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Cleanup runs even when an assertion fails.</a:t>
            </a:r>
          </a:p>
        </p:txBody>
      </p:sp>
    </p:spTree>
    <p:extLst>
      <p:ext uri="{BB962C8B-B14F-4D97-AF65-F5344CB8AC3E}">
        <p14:creationId xmlns:p14="http://schemas.microsoft.com/office/powerpoint/2010/main" val="1381086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7D19004-85FA-41CC-BD7B-350F637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tests cover the happy path and critical failures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B68331E-C4EA-469B-9EC3-FC4B1DC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coverage-sub">
            <a:extLst xmlns:a="http://schemas.openxmlformats.org/drawingml/2006/main">
              <a:ext uri="{FF2B5EF4-FFF2-40B4-BE49-F238E27FC236}">
                <a16:creationId xmlns:a16="http://schemas.microsoft.com/office/drawing/2014/main" id="{E8634534-8E6D-4484-9D17-FA76B5C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Tags make focused smoke, critical, regression, and API runs easy.</a:t>
            </a:r>
          </a:p>
        </p:txBody>
      </p:sp>
      <p:sp>
        <p:nvSpPr>
          <p:cNvPr id="4" name="th-0">
            <a:extLst xmlns:a="http://schemas.openxmlformats.org/drawingml/2006/main">
              <a:ext uri="{FF2B5EF4-FFF2-40B4-BE49-F238E27FC236}">
                <a16:creationId xmlns:a16="http://schemas.microsoft.com/office/drawing/2014/main" id="{EA91F8F3-9F8E-4959-8646-03FD5699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tht-0">
            <a:extLst xmlns:a="http://schemas.openxmlformats.org/drawingml/2006/main">
              <a:ext uri="{FF2B5EF4-FFF2-40B4-BE49-F238E27FC236}">
                <a16:creationId xmlns:a16="http://schemas.microsoft.com/office/drawing/2014/main" id="{A34D6B7C-BAB3-4463-9128-7A19DE8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6" name="th-1">
            <a:extLst xmlns:a="http://schemas.openxmlformats.org/drawingml/2006/main">
              <a:ext uri="{FF2B5EF4-FFF2-40B4-BE49-F238E27FC236}">
                <a16:creationId xmlns:a16="http://schemas.microsoft.com/office/drawing/2014/main" id="{E2C7AFD8-7FE1-4A30-8250-E9182E6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6687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ht-1">
            <a:extLst xmlns:a="http://schemas.openxmlformats.org/drawingml/2006/main">
              <a:ext uri="{FF2B5EF4-FFF2-40B4-BE49-F238E27FC236}">
                <a16:creationId xmlns:a16="http://schemas.microsoft.com/office/drawing/2014/main" id="{4F737F3F-3488-472A-AD90-DE3FE9B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9070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8" name="th-2">
            <a:extLst xmlns:a="http://schemas.openxmlformats.org/drawingml/2006/main">
              <a:ext uri="{FF2B5EF4-FFF2-40B4-BE49-F238E27FC236}">
                <a16:creationId xmlns:a16="http://schemas.microsoft.com/office/drawing/2014/main" id="{44B562F2-2A5C-4828-B90C-5BB75D6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tht-2">
            <a:extLst xmlns:a="http://schemas.openxmlformats.org/drawingml/2006/main">
              <a:ext uri="{FF2B5EF4-FFF2-40B4-BE49-F238E27FC236}">
                <a16:creationId xmlns:a16="http://schemas.microsoft.com/office/drawing/2014/main" id="{5468CC98-BCC1-4915-9634-7839D24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0" name="th-3">
            <a:extLst xmlns:a="http://schemas.openxmlformats.org/drawingml/2006/main">
              <a:ext uri="{FF2B5EF4-FFF2-40B4-BE49-F238E27FC236}">
                <a16:creationId xmlns:a16="http://schemas.microsoft.com/office/drawing/2014/main" id="{59C4CFD5-7F59-42B8-857B-9B0F5AE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3124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ht-3">
            <a:extLst xmlns:a="http://schemas.openxmlformats.org/drawingml/2006/main">
              <a:ext uri="{FF2B5EF4-FFF2-40B4-BE49-F238E27FC236}">
                <a16:creationId xmlns:a16="http://schemas.microsoft.com/office/drawing/2014/main" id="{7147BBA8-D7C2-4225-8242-24A3E84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Tag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F4CBF317-4D0C-4966-B5B5-6C784009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ellt-0-0">
            <a:extLst xmlns:a="http://schemas.openxmlformats.org/drawingml/2006/main">
              <a:ext uri="{FF2B5EF4-FFF2-40B4-BE49-F238E27FC236}">
                <a16:creationId xmlns:a16="http://schemas.microsoft.com/office/drawing/2014/main" id="{A9CAEF99-4359-4C13-9B4F-A0C1E9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3254D1B9-770C-4036-9A1C-A469649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240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cellt-0-1">
            <a:extLst xmlns:a="http://schemas.openxmlformats.org/drawingml/2006/main">
              <a:ext uri="{FF2B5EF4-FFF2-40B4-BE49-F238E27FC236}">
                <a16:creationId xmlns:a16="http://schemas.microsoft.com/office/drawing/2014/main" id="{F5E129E5-6EE7-4037-AF92-66EB8796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479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 login / invalid login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87EA7646-20AE-45E3-B29A-FD8B260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ellt-0-2">
            <a:extLst xmlns:a="http://schemas.openxmlformats.org/drawingml/2006/main">
              <a:ext uri="{FF2B5EF4-FFF2-40B4-BE49-F238E27FC236}">
                <a16:creationId xmlns:a16="http://schemas.microsoft.com/office/drawing/2014/main" id="{CC97FB7F-296F-4CAE-BEAA-7BA0820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/ 401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8C3E15C6-EA7F-4FF0-ACE0-0CEBA470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ellt-0-3">
            <a:extLst xmlns:a="http://schemas.openxmlformats.org/drawingml/2006/main">
              <a:ext uri="{FF2B5EF4-FFF2-40B4-BE49-F238E27FC236}">
                <a16:creationId xmlns:a16="http://schemas.microsoft.com/office/drawing/2014/main" id="{9D3DB2DA-DA0C-4134-BF35-D93DD1EC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47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@critical · @regression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34D8478D-FB07-47A0-8CC2-0762F8A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cellt-1-0">
            <a:extLst xmlns:a="http://schemas.openxmlformats.org/drawingml/2006/main">
              <a:ext uri="{FF2B5EF4-FFF2-40B4-BE49-F238E27FC236}">
                <a16:creationId xmlns:a16="http://schemas.microsoft.com/office/drawing/2014/main" id="{0677102F-44A5-4403-BBCF-AF85FC1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A169ABE4-5D77-48F3-B894-25850A4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74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ellt-1-1">
            <a:extLst xmlns:a="http://schemas.openxmlformats.org/drawingml/2006/main">
              <a:ext uri="{FF2B5EF4-FFF2-40B4-BE49-F238E27FC236}">
                <a16:creationId xmlns:a16="http://schemas.microsoft.com/office/drawing/2014/main" id="{87387ED7-63A4-4D7A-AE84-5E1735EC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813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 contact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4E2AF38F-8171-4465-AF71-938F0B6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cellt-1-2">
            <a:extLst xmlns:a="http://schemas.openxmlformats.org/drawingml/2006/main">
              <a:ext uri="{FF2B5EF4-FFF2-40B4-BE49-F238E27FC236}">
                <a16:creationId xmlns:a16="http://schemas.microsoft.com/office/drawing/2014/main" id="{2E364427-797B-4295-9792-2D46F8D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 + generated ID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C0EDBC85-DD7F-4446-AF72-CB24D4ED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574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cellt-1-3">
            <a:extLst xmlns:a="http://schemas.openxmlformats.org/drawingml/2006/main">
              <a:ext uri="{FF2B5EF4-FFF2-40B4-BE49-F238E27FC236}">
                <a16:creationId xmlns:a16="http://schemas.microsoft.com/office/drawing/2014/main" id="{41837D8A-8519-42A2-9787-FEDFB9FE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@critical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D3E8D7DE-0E72-4BD4-8728-E5043CE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cellt-2-0">
            <a:extLst xmlns:a="http://schemas.openxmlformats.org/drawingml/2006/main">
              <a:ext uri="{FF2B5EF4-FFF2-40B4-BE49-F238E27FC236}">
                <a16:creationId xmlns:a16="http://schemas.microsoft.com/office/drawing/2014/main" id="{3168103C-B491-472E-A1BD-303A108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BC240353-1D60-445C-A6CD-B5DEA97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cellt-2-1">
            <a:extLst xmlns:a="http://schemas.openxmlformats.org/drawingml/2006/main">
              <a:ext uri="{FF2B5EF4-FFF2-40B4-BE49-F238E27FC236}">
                <a16:creationId xmlns:a16="http://schemas.microsoft.com/office/drawing/2014/main" id="{6E188FB2-7CEC-4CA9-ADC8-8BC3677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147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 / get by ID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C43DB959-1062-4B6A-BBAA-F8B3CE7C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cellt-2-2">
            <a:extLst xmlns:a="http://schemas.openxmlformats.org/drawingml/2006/main">
              <a:ext uri="{FF2B5EF4-FFF2-40B4-BE49-F238E27FC236}">
                <a16:creationId xmlns:a16="http://schemas.microsoft.com/office/drawing/2014/main" id="{D29E7E5D-4C17-4678-8E86-C3941EFE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+ response contract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A4F06A3C-EE5C-4532-8C8A-7D4F4051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cellt-2-3">
            <a:extLst xmlns:a="http://schemas.openxmlformats.org/drawingml/2006/main">
              <a:ext uri="{FF2B5EF4-FFF2-40B4-BE49-F238E27FC236}">
                <a16:creationId xmlns:a16="http://schemas.microsoft.com/office/drawing/2014/main" id="{C5C77A51-EE93-4D90-B63C-38F8ECE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@smoke</a:t>
            </a:r>
          </a:p>
        </p:txBody>
      </p:sp>
      <p:sp>
        <p:nvSpPr>
          <p:cNvPr id="36" name="cell-3-0">
            <a:extLst xmlns:a="http://schemas.openxmlformats.org/drawingml/2006/main">
              <a:ext uri="{FF2B5EF4-FFF2-40B4-BE49-F238E27FC236}">
                <a16:creationId xmlns:a16="http://schemas.microsoft.com/office/drawing/2014/main" id="{DFE0F7C5-F8AF-4620-9E2B-770F26D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cellt-3-0">
            <a:extLst xmlns:a="http://schemas.openxmlformats.org/drawingml/2006/main">
              <a:ext uri="{FF2B5EF4-FFF2-40B4-BE49-F238E27FC236}">
                <a16:creationId xmlns:a16="http://schemas.microsoft.com/office/drawing/2014/main" id="{8AE98418-2EF3-423D-9514-ABC2EF9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38" name="cell-3-1">
            <a:extLst xmlns:a="http://schemas.openxmlformats.org/drawingml/2006/main">
              <a:ext uri="{FF2B5EF4-FFF2-40B4-BE49-F238E27FC236}">
                <a16:creationId xmlns:a16="http://schemas.microsoft.com/office/drawing/2014/main" id="{A7865B0F-7E94-4CF4-8C6F-6B7DD18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242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cellt-3-1">
            <a:extLst xmlns:a="http://schemas.openxmlformats.org/drawingml/2006/main">
              <a:ext uri="{FF2B5EF4-FFF2-40B4-BE49-F238E27FC236}">
                <a16:creationId xmlns:a16="http://schemas.microsoft.com/office/drawing/2014/main" id="{69C67256-8437-4FA9-BC23-ACC5866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481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Replace existing contact</a:t>
            </a:r>
          </a:p>
        </p:txBody>
      </p:sp>
      <p:sp>
        <p:nvSpPr>
          <p:cNvPr id="40" name="cell-3-2">
            <a:extLst xmlns:a="http://schemas.openxmlformats.org/drawingml/2006/main">
              <a:ext uri="{FF2B5EF4-FFF2-40B4-BE49-F238E27FC236}">
                <a16:creationId xmlns:a16="http://schemas.microsoft.com/office/drawing/2014/main" id="{2DA969CD-43FF-4B34-B3A0-39B11CC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cellt-3-2">
            <a:extLst xmlns:a="http://schemas.openxmlformats.org/drawingml/2006/main">
              <a:ext uri="{FF2B5EF4-FFF2-40B4-BE49-F238E27FC236}">
                <a16:creationId xmlns:a16="http://schemas.microsoft.com/office/drawing/2014/main" id="{46456C48-4509-4B23-96AA-C7394AB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+ changed fields</a:t>
            </a:r>
          </a:p>
        </p:txBody>
      </p:sp>
      <p:sp>
        <p:nvSpPr>
          <p:cNvPr id="42" name="cell-3-3">
            <a:extLst xmlns:a="http://schemas.openxmlformats.org/drawingml/2006/main">
              <a:ext uri="{FF2B5EF4-FFF2-40B4-BE49-F238E27FC236}">
                <a16:creationId xmlns:a16="http://schemas.microsoft.com/office/drawing/2014/main" id="{5192D4B8-14D1-4C34-AA6A-B7CA58E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242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cellt-3-3">
            <a:extLst xmlns:a="http://schemas.openxmlformats.org/drawingml/2006/main">
              <a:ext uri="{FF2B5EF4-FFF2-40B4-BE49-F238E27FC236}">
                <a16:creationId xmlns:a16="http://schemas.microsoft.com/office/drawing/2014/main" id="{960AE26B-8109-47D5-AD39-6107B19D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@critical</a:t>
            </a:r>
          </a:p>
        </p:txBody>
      </p:sp>
      <p:sp>
        <p:nvSpPr>
          <p:cNvPr id="44" name="cell-4-0">
            <a:extLst xmlns:a="http://schemas.openxmlformats.org/drawingml/2006/main">
              <a:ext uri="{FF2B5EF4-FFF2-40B4-BE49-F238E27FC236}">
                <a16:creationId xmlns:a16="http://schemas.microsoft.com/office/drawing/2014/main" id="{22B29F55-637F-4E73-993A-89B4076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cellt-4-0">
            <a:extLst xmlns:a="http://schemas.openxmlformats.org/drawingml/2006/main">
              <a:ext uri="{FF2B5EF4-FFF2-40B4-BE49-F238E27FC236}">
                <a16:creationId xmlns:a16="http://schemas.microsoft.com/office/drawing/2014/main" id="{BAC375A2-70D2-42D0-B335-72028137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46" name="cell-4-1">
            <a:extLst xmlns:a="http://schemas.openxmlformats.org/drawingml/2006/main">
              <a:ext uri="{FF2B5EF4-FFF2-40B4-BE49-F238E27FC236}">
                <a16:creationId xmlns:a16="http://schemas.microsoft.com/office/drawing/2014/main" id="{BA66DE3A-AC54-48F2-98BA-3723C22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576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cellt-4-1">
            <a:extLst xmlns:a="http://schemas.openxmlformats.org/drawingml/2006/main">
              <a:ext uri="{FF2B5EF4-FFF2-40B4-BE49-F238E27FC236}">
                <a16:creationId xmlns:a16="http://schemas.microsoft.com/office/drawing/2014/main" id="{9096FEDF-737F-4FAF-85C3-456BDAD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 and verify absence</a:t>
            </a:r>
          </a:p>
        </p:txBody>
      </p:sp>
      <p:sp>
        <p:nvSpPr>
          <p:cNvPr id="48" name="cell-4-2">
            <a:extLst xmlns:a="http://schemas.openxmlformats.org/drawingml/2006/main">
              <a:ext uri="{FF2B5EF4-FFF2-40B4-BE49-F238E27FC236}">
                <a16:creationId xmlns:a16="http://schemas.microsoft.com/office/drawing/2014/main" id="{F8561400-8847-48EF-B927-3B4B754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576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cellt-4-2">
            <a:extLst xmlns:a="http://schemas.openxmlformats.org/drawingml/2006/main">
              <a:ext uri="{FF2B5EF4-FFF2-40B4-BE49-F238E27FC236}">
                <a16:creationId xmlns:a16="http://schemas.microsoft.com/office/drawing/2014/main" id="{1B8D69A9-2F24-4966-858A-0B51424D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 then 404</a:t>
            </a:r>
          </a:p>
        </p:txBody>
      </p:sp>
      <p:sp>
        <p:nvSpPr>
          <p:cNvPr id="50" name="cell-4-3">
            <a:extLst xmlns:a="http://schemas.openxmlformats.org/drawingml/2006/main">
              <a:ext uri="{FF2B5EF4-FFF2-40B4-BE49-F238E27FC236}">
                <a16:creationId xmlns:a16="http://schemas.microsoft.com/office/drawing/2014/main" id="{479491AA-A658-4EDF-9CE2-C993BC0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576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cellt-4-3">
            <a:extLst xmlns:a="http://schemas.openxmlformats.org/drawingml/2006/main">
              <a:ext uri="{FF2B5EF4-FFF2-40B4-BE49-F238E27FC236}">
                <a16:creationId xmlns:a16="http://schemas.microsoft.com/office/drawing/2014/main" id="{F4287253-877A-462C-92E9-DC048198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815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@critical</a:t>
            </a:r>
          </a:p>
        </p:txBody>
      </p:sp>
      <p:sp>
        <p:nvSpPr>
          <p:cNvPr id="52" name="cell-5-0">
            <a:extLst xmlns:a="http://schemas.openxmlformats.org/drawingml/2006/main">
              <a:ext uri="{FF2B5EF4-FFF2-40B4-BE49-F238E27FC236}">
                <a16:creationId xmlns:a16="http://schemas.microsoft.com/office/drawing/2014/main" id="{E24CF28B-C054-4550-BD9B-BD2EF122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cellt-5-0">
            <a:extLst xmlns:a="http://schemas.openxmlformats.org/drawingml/2006/main">
              <a:ext uri="{FF2B5EF4-FFF2-40B4-BE49-F238E27FC236}">
                <a16:creationId xmlns:a16="http://schemas.microsoft.com/office/drawing/2014/main" id="{D0F91E1A-B251-46BD-BEEC-4315503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54" name="cell-5-1">
            <a:extLst xmlns:a="http://schemas.openxmlformats.org/drawingml/2006/main">
              <a:ext uri="{FF2B5EF4-FFF2-40B4-BE49-F238E27FC236}">
                <a16:creationId xmlns:a16="http://schemas.microsoft.com/office/drawing/2014/main" id="{6F79A578-C7CA-472D-A52A-6C9DA3B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cellt-5-1">
            <a:extLst xmlns:a="http://schemas.openxmlformats.org/drawingml/2006/main">
              <a:ext uri="{FF2B5EF4-FFF2-40B4-BE49-F238E27FC236}">
                <a16:creationId xmlns:a16="http://schemas.microsoft.com/office/drawing/2014/main" id="{569C2ACC-4981-45EE-93B9-F02F7E2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bearer token</a:t>
            </a:r>
          </a:p>
        </p:txBody>
      </p:sp>
      <p:sp>
        <p:nvSpPr>
          <p:cNvPr id="56" name="cell-5-2">
            <a:extLst xmlns:a="http://schemas.openxmlformats.org/drawingml/2006/main">
              <a:ext uri="{FF2B5EF4-FFF2-40B4-BE49-F238E27FC236}">
                <a16:creationId xmlns:a16="http://schemas.microsoft.com/office/drawing/2014/main" id="{B542C7E5-02C0-476E-8F28-E96A3F6A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cellt-5-2">
            <a:extLst xmlns:a="http://schemas.openxmlformats.org/drawingml/2006/main">
              <a:ext uri="{FF2B5EF4-FFF2-40B4-BE49-F238E27FC236}">
                <a16:creationId xmlns:a16="http://schemas.microsoft.com/office/drawing/2014/main" id="{61E17180-824C-41BC-B166-881CF4E9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58" name="cell-5-3">
            <a:extLst xmlns:a="http://schemas.openxmlformats.org/drawingml/2006/main">
              <a:ext uri="{FF2B5EF4-FFF2-40B4-BE49-F238E27FC236}">
                <a16:creationId xmlns:a16="http://schemas.microsoft.com/office/drawing/2014/main" id="{FBAE7261-032D-4A7C-8C0A-D8CF873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910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cellt-5-3">
            <a:extLst xmlns:a="http://schemas.openxmlformats.org/drawingml/2006/main">
              <a:ext uri="{FF2B5EF4-FFF2-40B4-BE49-F238E27FC236}">
                <a16:creationId xmlns:a16="http://schemas.microsoft.com/office/drawing/2014/main" id="{84E30AB5-BC58-447E-A8F6-1AB3743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@regression</a:t>
            </a:r>
          </a:p>
        </p:txBody>
      </p:sp>
      <p:sp>
        <p:nvSpPr>
          <p:cNvPr id="60" name="cell-6-0">
            <a:extLst xmlns:a="http://schemas.openxmlformats.org/drawingml/2006/main">
              <a:ext uri="{FF2B5EF4-FFF2-40B4-BE49-F238E27FC236}">
                <a16:creationId xmlns:a16="http://schemas.microsoft.com/office/drawing/2014/main" id="{00EDD401-EBC8-49EA-B75E-1EB2CBDE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cellt-6-0">
            <a:extLst xmlns:a="http://schemas.openxmlformats.org/drawingml/2006/main">
              <a:ext uri="{FF2B5EF4-FFF2-40B4-BE49-F238E27FC236}">
                <a16:creationId xmlns:a16="http://schemas.microsoft.com/office/drawing/2014/main" id="{2B370681-24CB-4EAD-81F0-B71F5AC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62" name="cell-6-1">
            <a:extLst xmlns:a="http://schemas.openxmlformats.org/drawingml/2006/main">
              <a:ext uri="{FF2B5EF4-FFF2-40B4-BE49-F238E27FC236}">
                <a16:creationId xmlns:a16="http://schemas.microsoft.com/office/drawing/2014/main" id="{0F98B350-69F0-4B36-8B70-320FB949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cellt-6-1">
            <a:extLst xmlns:a="http://schemas.openxmlformats.org/drawingml/2006/main">
              <a:ext uri="{FF2B5EF4-FFF2-40B4-BE49-F238E27FC236}">
                <a16:creationId xmlns:a16="http://schemas.microsoft.com/office/drawing/2014/main" id="{FA1F3EB4-F4C8-4F0A-A6D3-1B08AE3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483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Invalid ID / blank first name</a:t>
            </a:r>
          </a:p>
        </p:txBody>
      </p:sp>
      <p:sp>
        <p:nvSpPr>
          <p:cNvPr id="64" name="cell-6-2">
            <a:extLst xmlns:a="http://schemas.openxmlformats.org/drawingml/2006/main">
              <a:ext uri="{FF2B5EF4-FFF2-40B4-BE49-F238E27FC236}">
                <a16:creationId xmlns:a16="http://schemas.microsoft.com/office/drawing/2014/main" id="{A8B33CD1-ECDB-4D0A-9D20-E045635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24475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cellt-6-2">
            <a:extLst xmlns:a="http://schemas.openxmlformats.org/drawingml/2006/main">
              <a:ext uri="{FF2B5EF4-FFF2-40B4-BE49-F238E27FC236}">
                <a16:creationId xmlns:a16="http://schemas.microsoft.com/office/drawing/2014/main" id="{91C9CFAE-FD93-466A-A14B-3DDEC7B1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48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404 / 400 + errors</a:t>
            </a:r>
          </a:p>
        </p:txBody>
      </p:sp>
      <p:sp>
        <p:nvSpPr>
          <p:cNvPr id="66" name="cell-6-3">
            <a:extLst xmlns:a="http://schemas.openxmlformats.org/drawingml/2006/main">
              <a:ext uri="{FF2B5EF4-FFF2-40B4-BE49-F238E27FC236}">
                <a16:creationId xmlns:a16="http://schemas.microsoft.com/office/drawing/2014/main" id="{01EC8DD3-F775-4E83-9B30-A88595A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2447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cellt-6-3">
            <a:extLst xmlns:a="http://schemas.openxmlformats.org/drawingml/2006/main">
              <a:ext uri="{FF2B5EF4-FFF2-40B4-BE49-F238E27FC236}">
                <a16:creationId xmlns:a16="http://schemas.microsoft.com/office/drawing/2014/main" id="{9B03B194-1193-43B6-9966-3F7BDF4A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483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@regression</a:t>
            </a:r>
          </a:p>
        </p:txBody>
      </p:sp>
    </p:spTree>
    <p:extLst>
      <p:ext uri="{BB962C8B-B14F-4D97-AF65-F5344CB8AC3E}">
        <p14:creationId xmlns:p14="http://schemas.microsoft.com/office/powerpoint/2010/main" val="1982090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A664ABD-D3D0-42E4-B207-E79FDF1D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new teammate can run the suite in three steps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779415EB-A354-4B21-BBCD-E2D2634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un-num-1">
            <a:extLst xmlns:a="http://schemas.openxmlformats.org/drawingml/2006/main">
              <a:ext uri="{FF2B5EF4-FFF2-40B4-BE49-F238E27FC236}">
                <a16:creationId xmlns:a16="http://schemas.microsoft.com/office/drawing/2014/main" id="{63C9E07D-C7A8-4530-90FA-BF59C5E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run-n-1">
            <a:extLst xmlns:a="http://schemas.openxmlformats.org/drawingml/2006/main">
              <a:ext uri="{FF2B5EF4-FFF2-40B4-BE49-F238E27FC236}">
                <a16:creationId xmlns:a16="http://schemas.microsoft.com/office/drawing/2014/main" id="{9E66B286-B80D-4F69-8723-8BF2D6E9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un-head-1">
            <a:extLst xmlns:a="http://schemas.openxmlformats.org/drawingml/2006/main">
              <a:ext uri="{FF2B5EF4-FFF2-40B4-BE49-F238E27FC236}">
                <a16:creationId xmlns:a16="http://schemas.microsoft.com/office/drawing/2014/main" id="{441C9990-1278-4418-8A00-EAF4646A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6" name="run-cmd-bg-1">
            <a:extLst xmlns:a="http://schemas.openxmlformats.org/drawingml/2006/main">
              <a:ext uri="{FF2B5EF4-FFF2-40B4-BE49-F238E27FC236}">
                <a16:creationId xmlns:a16="http://schemas.microsoft.com/office/drawing/2014/main" id="{8FCAD77D-6C34-4E52-A16A-5C64856A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4667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un-cmd-1">
            <a:extLst xmlns:a="http://schemas.openxmlformats.org/drawingml/2006/main">
              <a:ext uri="{FF2B5EF4-FFF2-40B4-BE49-F238E27FC236}">
                <a16:creationId xmlns:a16="http://schemas.microsoft.com/office/drawing/2014/main" id="{CC268863-5C44-46CE-8EF1-DF49B390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npm ci</a:t>
            </a:r>
          </a:p>
        </p:txBody>
      </p:sp>
      <p:sp>
        <p:nvSpPr>
          <p:cNvPr id="8" name="run-body-1">
            <a:extLst xmlns:a="http://schemas.openxmlformats.org/drawingml/2006/main">
              <a:ext uri="{FF2B5EF4-FFF2-40B4-BE49-F238E27FC236}">
                <a16:creationId xmlns:a16="http://schemas.microsoft.com/office/drawing/2014/main" id="{CB5B18CB-BA4D-434D-8D0C-C685FBF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Uses the committed package-lock.json.</a:t>
            </a:r>
          </a:p>
        </p:txBody>
      </p:sp>
      <p:sp>
        <p:nvSpPr>
          <p:cNvPr id="9" name="run-num-2">
            <a:extLst xmlns:a="http://schemas.openxmlformats.org/drawingml/2006/main">
              <a:ext uri="{FF2B5EF4-FFF2-40B4-BE49-F238E27FC236}">
                <a16:creationId xmlns:a16="http://schemas.microsoft.com/office/drawing/2014/main" id="{3DAD574E-A281-408C-A5CD-9AEF211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un-n-2">
            <a:extLst xmlns:a="http://schemas.openxmlformats.org/drawingml/2006/main">
              <a:ext uri="{FF2B5EF4-FFF2-40B4-BE49-F238E27FC236}">
                <a16:creationId xmlns:a16="http://schemas.microsoft.com/office/drawing/2014/main" id="{B76122FB-E3D5-42DD-9EBC-CDD355E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un-head-2">
            <a:extLst xmlns:a="http://schemas.openxmlformats.org/drawingml/2006/main">
              <a:ext uri="{FF2B5EF4-FFF2-40B4-BE49-F238E27FC236}">
                <a16:creationId xmlns:a16="http://schemas.microsoft.com/office/drawing/2014/main" id="{E86D566F-CE93-413A-9AD6-471372BA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runtime credentials</a:t>
            </a:r>
          </a:p>
        </p:txBody>
      </p:sp>
      <p:sp>
        <p:nvSpPr>
          <p:cNvPr id="12" name="run-cmd-bg-2">
            <a:extLst xmlns:a="http://schemas.openxmlformats.org/drawingml/2006/main">
              <a:ext uri="{FF2B5EF4-FFF2-40B4-BE49-F238E27FC236}">
                <a16:creationId xmlns:a16="http://schemas.microsoft.com/office/drawing/2014/main" id="{18BDE09D-4249-4CBC-B58B-A82446D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4667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un-cmd-2">
            <a:extLst xmlns:a="http://schemas.openxmlformats.org/drawingml/2006/main">
              <a:ext uri="{FF2B5EF4-FFF2-40B4-BE49-F238E27FC236}">
                <a16:creationId xmlns:a16="http://schemas.microsoft.com/office/drawing/2014/main" id="{88B60DB9-5DE5-4939-82C7-947EA58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$env:CONTACT_LIST_EMAIL="…"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$env:CONTACT_LIST_PASSWORD="…"</a:t>
            </a:r>
          </a:p>
        </p:txBody>
      </p:sp>
      <p:sp>
        <p:nvSpPr>
          <p:cNvPr id="14" name="run-body-2">
            <a:extLst xmlns:a="http://schemas.openxmlformats.org/drawingml/2006/main">
              <a:ext uri="{FF2B5EF4-FFF2-40B4-BE49-F238E27FC236}">
                <a16:creationId xmlns:a16="http://schemas.microsoft.com/office/drawing/2014/main" id="{2B7885D8-28D2-4B09-9A9D-2ABF4B2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0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Keep values local or in CI secrets.</a:t>
            </a:r>
          </a:p>
        </p:txBody>
      </p:sp>
      <p:sp>
        <p:nvSpPr>
          <p:cNvPr id="15" name="run-num-3">
            <a:extLst xmlns:a="http://schemas.openxmlformats.org/drawingml/2006/main">
              <a:ext uri="{FF2B5EF4-FFF2-40B4-BE49-F238E27FC236}">
                <a16:creationId xmlns:a16="http://schemas.microsoft.com/office/drawing/2014/main" id="{2E51896D-F7DF-41F5-8FDA-6C46E2A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run-n-3">
            <a:extLst xmlns:a="http://schemas.openxmlformats.org/drawingml/2006/main">
              <a:ext uri="{FF2B5EF4-FFF2-40B4-BE49-F238E27FC236}">
                <a16:creationId xmlns:a16="http://schemas.microsoft.com/office/drawing/2014/main" id="{A0122FBA-D13E-4E13-A4EC-FE9A538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un-head-3">
            <a:extLst xmlns:a="http://schemas.openxmlformats.org/drawingml/2006/main">
              <a:ext uri="{FF2B5EF4-FFF2-40B4-BE49-F238E27FC236}">
                <a16:creationId xmlns:a16="http://schemas.microsoft.com/office/drawing/2014/main" id="{20171C00-F1FA-471C-9DD4-2F20F9B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8" name="run-cmd-bg-3">
            <a:extLst xmlns:a="http://schemas.openxmlformats.org/drawingml/2006/main">
              <a:ext uri="{FF2B5EF4-FFF2-40B4-BE49-F238E27FC236}">
                <a16:creationId xmlns:a16="http://schemas.microsoft.com/office/drawing/2014/main" id="{F649AC7F-DCC1-474B-A333-F3C71CE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4667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run-cmd-3">
            <a:extLst xmlns:a="http://schemas.openxmlformats.org/drawingml/2006/main">
              <a:ext uri="{FF2B5EF4-FFF2-40B4-BE49-F238E27FC236}">
                <a16:creationId xmlns:a16="http://schemas.microsoft.com/office/drawing/2014/main" id="{DB34052A-B96D-4C35-8CE7-03A7DB9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npm run test:api</a:t>
            </a:r>
          </a:p>
        </p:txBody>
      </p:sp>
      <p:sp>
        <p:nvSpPr>
          <p:cNvPr id="20" name="run-body-3">
            <a:extLst xmlns:a="http://schemas.openxmlformats.org/drawingml/2006/main">
              <a:ext uri="{FF2B5EF4-FFF2-40B4-BE49-F238E27FC236}">
                <a16:creationId xmlns:a16="http://schemas.microsoft.com/office/drawing/2014/main" id="{17EA566A-497E-4DBC-88C5-F0058A3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76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Runs the API project and produces HTML + Allure output.</a:t>
            </a:r>
          </a:p>
        </p:txBody>
      </p:sp>
      <p:sp>
        <p:nvSpPr>
          <p:cNvPr id="21" name="serial-note">
            <a:extLst xmlns:a="http://schemas.openxmlformats.org/drawingml/2006/main">
              <a:ext uri="{FF2B5EF4-FFF2-40B4-BE49-F238E27FC236}">
                <a16:creationId xmlns:a16="http://schemas.microsoft.com/office/drawing/2014/main" id="{BA9FB057-6DCB-4FB9-873C-09E679D0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7A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7A10"/>
                </a:solidFill>
                <a:latin typeface="Arial"/>
                <a:ea typeface="Arial"/>
                <a:cs typeface="Arial"/>
              </a:rPr>
              <a:t>Why one worker?</a:t>
            </a:r>
          </a:p>
        </p:txBody>
      </p:sp>
      <p:sp>
        <p:nvSpPr>
          <p:cNvPr id="22" name="serial-copy">
            <a:extLst xmlns:a="http://schemas.openxmlformats.org/drawingml/2006/main">
              <a:ext uri="{FF2B5EF4-FFF2-40B4-BE49-F238E27FC236}">
                <a16:creationId xmlns:a16="http://schemas.microsoft.com/office/drawing/2014/main" id="{AAD9FB43-63D9-471D-A361-41577BF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service keeps one active token per account; serial execution prevents token invalidation races.</a:t>
            </a:r>
          </a:p>
        </p:txBody>
      </p:sp>
    </p:spTree>
    <p:extLst>
      <p:ext uri="{BB962C8B-B14F-4D97-AF65-F5344CB8AC3E}">
        <p14:creationId xmlns:p14="http://schemas.microsoft.com/office/powerpoint/2010/main" val="113953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07C3024-F031-449B-878B-4215228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Extend the suite without weakening its guardrails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B0241CA-60A3-4E74-95AD-189616D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extend-num-01">
            <a:extLst xmlns:a="http://schemas.openxmlformats.org/drawingml/2006/main">
              <a:ext uri="{FF2B5EF4-FFF2-40B4-BE49-F238E27FC236}">
                <a16:creationId xmlns:a16="http://schemas.microsoft.com/office/drawing/2014/main" id="{4B7D074D-2B4F-4CBF-AB16-AB61DAC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28" name="extend-line-01"/>
          <p:cNvCxnSpPr/>
          <p:nvPr/>
        </p:nvCxnSpPr>
        <p:spPr>
          <a:xfrm xmlns:a="http://schemas.openxmlformats.org/drawingml/2006/main">
            <a:off x="1000125" y="15430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extend-head-01">
            <a:extLst xmlns:a="http://schemas.openxmlformats.org/drawingml/2006/main">
              <a:ext uri="{FF2B5EF4-FFF2-40B4-BE49-F238E27FC236}">
                <a16:creationId xmlns:a16="http://schemas.microsoft.com/office/drawing/2014/main" id="{5E2AF096-909C-42D4-A8D7-BA8D64D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transport behavior to ContactListClient</a:t>
            </a:r>
          </a:p>
        </p:txBody>
      </p:sp>
      <p:sp>
        <p:nvSpPr>
          <p:cNvPr id="6" name="extend-body-01">
            <a:extLst xmlns:a="http://schemas.openxmlformats.org/drawingml/2006/main">
              <a:ext uri="{FF2B5EF4-FFF2-40B4-BE49-F238E27FC236}">
                <a16:creationId xmlns:a16="http://schemas.microsoft.com/office/drawing/2014/main" id="{E937FAA3-E9E1-4BDD-ADBF-AE36B8A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620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Keep URLs, headers, and HTTP methods out of specs.</a:t>
            </a:r>
          </a:p>
        </p:txBody>
      </p:sp>
      <p:sp>
        <p:nvSpPr>
          <p:cNvPr id="7" name="extend-num-02">
            <a:extLst xmlns:a="http://schemas.openxmlformats.org/drawingml/2006/main">
              <a:ext uri="{FF2B5EF4-FFF2-40B4-BE49-F238E27FC236}">
                <a16:creationId xmlns:a16="http://schemas.microsoft.com/office/drawing/2014/main" id="{8C6FAEA2-F5FD-4F00-B0E6-2F47AF3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2" name="extend-line-02"/>
          <p:cNvCxnSpPr/>
          <p:nvPr/>
        </p:nvCxnSpPr>
        <p:spPr>
          <a:xfrm xmlns:a="http://schemas.openxmlformats.org/drawingml/2006/main">
            <a:off x="1000125" y="24574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extend-head-02">
            <a:extLst xmlns:a="http://schemas.openxmlformats.org/drawingml/2006/main">
              <a:ext uri="{FF2B5EF4-FFF2-40B4-BE49-F238E27FC236}">
                <a16:creationId xmlns:a16="http://schemas.microsoft.com/office/drawing/2014/main" id="{BBBC3E18-8292-4F8A-8E8B-728B33C5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764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reusable payloads to tests/data</a:t>
            </a:r>
          </a:p>
        </p:txBody>
      </p:sp>
      <p:sp>
        <p:nvSpPr>
          <p:cNvPr id="10" name="extend-body-02">
            <a:extLst xmlns:a="http://schemas.openxmlformats.org/drawingml/2006/main">
              <a:ext uri="{FF2B5EF4-FFF2-40B4-BE49-F238E27FC236}">
                <a16:creationId xmlns:a16="http://schemas.microsoft.com/office/drawing/2014/main" id="{2BDDDB0E-4056-4E7A-AA02-FDD6DBB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Never add credentials, auth tokens, or personal data.</a:t>
            </a:r>
          </a:p>
        </p:txBody>
      </p:sp>
      <p:sp>
        <p:nvSpPr>
          <p:cNvPr id="11" name="extend-num-03">
            <a:extLst xmlns:a="http://schemas.openxmlformats.org/drawingml/2006/main">
              <a:ext uri="{FF2B5EF4-FFF2-40B4-BE49-F238E27FC236}">
                <a16:creationId xmlns:a16="http://schemas.microsoft.com/office/drawing/2014/main" id="{28D1DA9D-C204-429F-8DCB-FF4E44A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6" name="extend-line-03"/>
          <p:cNvCxnSpPr/>
          <p:nvPr/>
        </p:nvCxnSpPr>
        <p:spPr>
          <a:xfrm xmlns:a="http://schemas.openxmlformats.org/drawingml/2006/main">
            <a:off x="1000125" y="33718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3" name="extend-head-03">
            <a:extLst xmlns:a="http://schemas.openxmlformats.org/drawingml/2006/main">
              <a:ext uri="{FF2B5EF4-FFF2-40B4-BE49-F238E27FC236}">
                <a16:creationId xmlns:a16="http://schemas.microsoft.com/office/drawing/2014/main" id="{5ACD2614-3579-4B5D-8791-99115E2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90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 one behavior-focused test</a:t>
            </a:r>
          </a:p>
        </p:txBody>
      </p:sp>
      <p:sp>
        <p:nvSpPr>
          <p:cNvPr id="14" name="extend-body-03">
            <a:extLst xmlns:a="http://schemas.openxmlformats.org/drawingml/2006/main">
              <a:ext uri="{FF2B5EF4-FFF2-40B4-BE49-F238E27FC236}">
                <a16:creationId xmlns:a16="http://schemas.microsoft.com/office/drawing/2014/main" id="{6CAF9447-926E-4599-865B-D0C44060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Use web-first/API assertions and the correct test tag.</a:t>
            </a:r>
          </a:p>
        </p:txBody>
      </p:sp>
      <p:sp>
        <p:nvSpPr>
          <p:cNvPr id="15" name="extend-num-04">
            <a:extLst xmlns:a="http://schemas.openxmlformats.org/drawingml/2006/main">
              <a:ext uri="{FF2B5EF4-FFF2-40B4-BE49-F238E27FC236}">
                <a16:creationId xmlns:a16="http://schemas.microsoft.com/office/drawing/2014/main" id="{E04BC3D7-8C87-446F-B8E1-86BAD56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0" name="extend-line-04"/>
          <p:cNvCxnSpPr/>
          <p:nvPr/>
        </p:nvCxnSpPr>
        <p:spPr>
          <a:xfrm xmlns:a="http://schemas.openxmlformats.org/drawingml/2006/main">
            <a:off x="1000125" y="4286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extend-head-04">
            <a:extLst xmlns:a="http://schemas.openxmlformats.org/drawingml/2006/main">
              <a:ext uri="{FF2B5EF4-FFF2-40B4-BE49-F238E27FC236}">
                <a16:creationId xmlns:a16="http://schemas.microsoft.com/office/drawing/2014/main" id="{4EBE3901-D46F-4362-B750-DF211639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05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cleanup before creating data</a:t>
            </a:r>
          </a:p>
        </p:txBody>
      </p:sp>
      <p:sp>
        <p:nvSpPr>
          <p:cNvPr id="18" name="extend-body-04">
            <a:extLst xmlns:a="http://schemas.openxmlformats.org/drawingml/2006/main">
              <a:ext uri="{FF2B5EF4-FFF2-40B4-BE49-F238E27FC236}">
                <a16:creationId xmlns:a16="http://schemas.microsoft.com/office/drawing/2014/main" id="{53AB4C89-3C05-4ABF-8336-15A7D9C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052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Use try/finally so failures still remove records.</a:t>
            </a:r>
          </a:p>
        </p:txBody>
      </p:sp>
      <p:sp>
        <p:nvSpPr>
          <p:cNvPr id="19" name="extend-num-05">
            <a:extLst xmlns:a="http://schemas.openxmlformats.org/drawingml/2006/main">
              <a:ext uri="{FF2B5EF4-FFF2-40B4-BE49-F238E27FC236}">
                <a16:creationId xmlns:a16="http://schemas.microsoft.com/office/drawing/2014/main" id="{E982C397-24DC-49A8-AF5B-8969EE9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44" name="extend-line-05"/>
          <p:cNvCxnSpPr/>
          <p:nvPr/>
        </p:nvCxnSpPr>
        <p:spPr>
          <a:xfrm xmlns:a="http://schemas.openxmlformats.org/drawingml/2006/main">
            <a:off x="1000125" y="5200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1" name="extend-head-05">
            <a:extLst xmlns:a="http://schemas.openxmlformats.org/drawingml/2006/main">
              <a:ext uri="{FF2B5EF4-FFF2-40B4-BE49-F238E27FC236}">
                <a16:creationId xmlns:a16="http://schemas.microsoft.com/office/drawing/2014/main" id="{85132855-25B5-4638-BFAF-204A768C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196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the API project before review</a:t>
            </a:r>
          </a:p>
        </p:txBody>
      </p:sp>
      <p:sp>
        <p:nvSpPr>
          <p:cNvPr id="22" name="extend-body-05">
            <a:extLst xmlns:a="http://schemas.openxmlformats.org/drawingml/2006/main">
              <a:ext uri="{FF2B5EF4-FFF2-40B4-BE49-F238E27FC236}">
                <a16:creationId xmlns:a16="http://schemas.microsoft.com/office/drawing/2014/main" id="{C2ACD32B-B2A9-4AC7-A078-08311DF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572"/>
                </a:solidFill>
                <a:latin typeface="Arial"/>
                <a:ea typeface="Arial"/>
                <a:cs typeface="Arial"/>
              </a:rPr>
              <a:t>Check HTML/Allure evidence and confirm no data remains.</a:t>
            </a:r>
          </a:p>
        </p:txBody>
      </p:sp>
      <p:sp>
        <p:nvSpPr>
          <p:cNvPr id="23" name="close-banner">
            <a:extLst xmlns:a="http://schemas.openxmlformats.org/drawingml/2006/main">
              <a:ext uri="{FF2B5EF4-FFF2-40B4-BE49-F238E27FC236}">
                <a16:creationId xmlns:a16="http://schemas.microsoft.com/office/drawing/2014/main" id="{E4681BE4-6C5C-48A8-802C-886EB35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8394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close-copy">
            <a:extLst xmlns:a="http://schemas.openxmlformats.org/drawingml/2006/main">
              <a:ext uri="{FF2B5EF4-FFF2-40B4-BE49-F238E27FC236}">
                <a16:creationId xmlns:a16="http://schemas.microsoft.com/office/drawing/2014/main" id="{B8DE2E05-CCD9-4ED7-9E97-7111DD9D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045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the client, protect secrets, assert behavior, and always clean up.</a:t>
            </a:r>
          </a:p>
        </p:txBody>
      </p:sp>
    </p:spTree>
    <p:extLst>
      <p:ext uri="{BB962C8B-B14F-4D97-AF65-F5344CB8AC3E}">
        <p14:creationId xmlns:p14="http://schemas.microsoft.com/office/powerpoint/2010/main" val="1609126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2026-08-31T05:50:06.5290000Z</dcterms:created>
  <dcterms:modified xsi:type="dcterms:W3CDTF">2026-08-31T05:50:06.5320000Z</dcterms:modified>
</coreProperties>
</file>